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Manison SemiExpanded Bold" charset="1" panose="00000000000000000000"/>
      <p:regular r:id="rId34"/>
    </p:embeddedFont>
    <p:embeddedFont>
      <p:font typeface="Canva Sans" charset="1" panose="020B0503030501040103"/>
      <p:regular r:id="rId35"/>
    </p:embeddedFont>
    <p:embeddedFont>
      <p:font typeface="Canva Sans Bold" charset="1" panose="020B08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https://nextjs.org/docs" TargetMode="External" Type="http://schemas.openxmlformats.org/officeDocument/2006/relationships/hyperlink"/><Relationship Id="rId19" Target="https://docs.convex.dev" TargetMode="External" Type="http://schemas.openxmlformats.org/officeDocument/2006/relationships/hyperlink"/><Relationship Id="rId2" Target="../media/image1.png" Type="http://schemas.openxmlformats.org/officeDocument/2006/relationships/image"/><Relationship Id="rId20" Target="https://clerk.dev/docs" TargetMode="External" Type="http://schemas.openxmlformats.org/officeDocument/2006/relationships/hyperlink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88439" y="2618308"/>
            <a:ext cx="13111123" cy="283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8"/>
              </a:lnSpc>
            </a:pPr>
            <a:r>
              <a:rPr lang="en-US" sz="8617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 One Notebook: Document Management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57637" y="5840873"/>
            <a:ext cx="6972018" cy="302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Name: Saras Chauhan</a:t>
            </a:r>
          </a:p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Mentor</a:t>
            </a:r>
            <a:r>
              <a:rPr lang="en-US" sz="3399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: Mr. Kamal Kumar Gola</a:t>
            </a:r>
          </a:p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Department: Computer Science &amp; Engineering</a:t>
            </a:r>
          </a:p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College of Engineering Roorkee</a:t>
            </a:r>
          </a:p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Session: 2024–25</a:t>
            </a:r>
          </a:p>
          <a:p>
            <a:pPr algn="ctr">
              <a:lnSpc>
                <a:spcPts val="33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388507"/>
            <a:ext cx="8447605" cy="102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8"/>
              </a:lnSpc>
            </a:pPr>
            <a:r>
              <a:rPr lang="en-US" sz="87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Abstract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7255" y="2541291"/>
            <a:ext cx="11613490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One Notebook: Document Management System is a modern web-based application built using Next.js, Convex, and Clerk.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system enables users to: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Create, edit, and manage documents in real time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Collaborate with multiple users simultaneously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Experience secure and scalable document handling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Highlights: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Next.js for full-stack development (frontend + backend)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Convex for real-time data synchronization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Clerk for secure user authentication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Modular architecture designed for scalability and future AI integration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592242"/>
            <a:ext cx="8447605" cy="102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8"/>
              </a:lnSpc>
            </a:pPr>
            <a:r>
              <a:rPr lang="en-US" sz="87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Introduction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7255" y="2833370"/>
            <a:ext cx="11613490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This project addresses the growing need for a fast, collaborative, and secure document management platform.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Design Concepts: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Built on 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Next.js</a:t>
            </a: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for unified front-end and back-end development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document updates via 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Convex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Secure login and session management using 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Clerk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Clean, intuitive, and mobile-responsive UI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Modular architecture for easy upgrades and feature expansion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It Matters: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Facilitates 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seamless collaboration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Offers a 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user-friendly interface</a:t>
            </a: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for all technical levels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Lays the groundwork for future 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AI-enhanced functionality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344331"/>
            <a:ext cx="8447605" cy="102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8"/>
              </a:lnSpc>
            </a:pPr>
            <a:r>
              <a:rPr lang="en-US" sz="87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67305" y="2456839"/>
            <a:ext cx="11553389" cy="667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Despite many document editing tools, common limitations persist:</a:t>
            </a:r>
          </a:p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Challenges: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Lack of real-time collaboration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Poor security in many open-source solutions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Complex maintenance due to separate front-end/back-end stacks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Non-scalable architectures that fail under multi-user loads</a:t>
            </a:r>
          </a:p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Aim: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To create a robust, real-time, secure document management system using a modern, unified tech stack that is also ready for future AI integration.</a:t>
            </a:r>
          </a:p>
          <a:p>
            <a:pPr algn="just">
              <a:lnSpc>
                <a:spcPts val="406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23333" y="2856688"/>
            <a:ext cx="9658075" cy="641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1"/>
              </a:lnSpc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1. Next.js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Framework for React-based development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Enables server-side rendering, static site generation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Manages front-end and back-end in one codebase</a:t>
            </a:r>
          </a:p>
          <a:p>
            <a:pPr algn="just">
              <a:lnSpc>
                <a:spcPts val="3951"/>
              </a:lnSpc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2. Convex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database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Instantly reflects document changes for all users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Built for collaborative apps</a:t>
            </a:r>
          </a:p>
          <a:p>
            <a:pPr algn="just">
              <a:lnSpc>
                <a:spcPts val="3951"/>
              </a:lnSpc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3. Clerk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Secure user authentication service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Handles sign-up, login, and session management</a:t>
            </a:r>
          </a:p>
          <a:p>
            <a:pPr algn="just" marL="609423" indent="-304711" lvl="1">
              <a:lnSpc>
                <a:spcPts val="3951"/>
              </a:lnSpc>
              <a:buFont typeface="Arial"/>
              <a:buChar char="•"/>
            </a:pPr>
            <a:r>
              <a:rPr lang="en-US" sz="282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Ensures only authorized access</a:t>
            </a:r>
          </a:p>
          <a:p>
            <a:pPr algn="just">
              <a:lnSpc>
                <a:spcPts val="3951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189986" y="3237688"/>
            <a:ext cx="6138374" cy="4964410"/>
          </a:xfrm>
          <a:custGeom>
            <a:avLst/>
            <a:gdLst/>
            <a:ahLst/>
            <a:cxnLst/>
            <a:rect r="r" b="b" t="t" l="l"/>
            <a:pathLst>
              <a:path h="4964410" w="6138374">
                <a:moveTo>
                  <a:pt x="0" y="0"/>
                </a:moveTo>
                <a:lnTo>
                  <a:pt x="6138375" y="0"/>
                </a:lnTo>
                <a:lnTo>
                  <a:pt x="6138375" y="4964410"/>
                </a:lnTo>
                <a:lnTo>
                  <a:pt x="0" y="496441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60319" y="1673321"/>
            <a:ext cx="11367363" cy="102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8"/>
              </a:lnSpc>
            </a:pPr>
            <a:r>
              <a:rPr lang="en-US" sz="87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Technologies Used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28716" y="4625183"/>
            <a:ext cx="5092225" cy="257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431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Additional Tools:</a:t>
            </a:r>
          </a:p>
          <a:p>
            <a:pPr algn="l" marL="525029" indent="-262514" lvl="1">
              <a:lnSpc>
                <a:spcPts val="3404"/>
              </a:lnSpc>
              <a:buFont typeface="Arial"/>
              <a:buChar char="•"/>
            </a:pPr>
            <a:r>
              <a:rPr lang="en-US" sz="2431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Vercel for deployment</a:t>
            </a:r>
          </a:p>
          <a:p>
            <a:pPr algn="l" marL="525029" indent="-262514" lvl="1">
              <a:lnSpc>
                <a:spcPts val="3404"/>
              </a:lnSpc>
              <a:buFont typeface="Arial"/>
              <a:buChar char="•"/>
            </a:pPr>
            <a:r>
              <a:rPr lang="en-US" sz="2431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Tailwind CSS for styling</a:t>
            </a:r>
          </a:p>
          <a:p>
            <a:pPr algn="l" marL="525029" indent="-262514" lvl="1">
              <a:lnSpc>
                <a:spcPts val="3404"/>
              </a:lnSpc>
              <a:buFont typeface="Arial"/>
              <a:buChar char="•"/>
            </a:pPr>
            <a:r>
              <a:rPr lang="en-US" sz="2431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TypeScript for type-safe development</a:t>
            </a:r>
          </a:p>
          <a:p>
            <a:pPr algn="ctr">
              <a:lnSpc>
                <a:spcPts val="3404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98023" y="4226593"/>
            <a:ext cx="9691953" cy="246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3"/>
              </a:lnSpc>
            </a:pPr>
            <a:r>
              <a:rPr lang="en-US" sz="11063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Literature Review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74841" y="1384599"/>
            <a:ext cx="12538319" cy="178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9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Literature Review – Unified Frameworks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3497" y="3313359"/>
            <a:ext cx="12440297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Unified Frameworks in Modern Web Apps: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Traditional apps require separate front-end and back-end systems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Unified frameworks like Next.js eliminate this separation</a:t>
            </a: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 Highlighted in Research: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Simplified development through a single codebase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Improved performance with server-side rendering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Easier maintenance and faster deployment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Higher scalability due to consistent system logic</a:t>
            </a: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to the Project: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Next.js forms the foundation, enabling seamless integration of logic, UI, and APIs—delivering faster and more efficient development</a:t>
            </a:r>
          </a:p>
          <a:p>
            <a:pPr algn="just">
              <a:lnSpc>
                <a:spcPts val="392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63332" y="1276991"/>
            <a:ext cx="12961337" cy="1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6"/>
              </a:lnSpc>
            </a:pPr>
            <a:r>
              <a:rPr lang="en-US" sz="74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Literature Review – Real-Time Databases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44016" y="3154680"/>
            <a:ext cx="7781849" cy="665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Collaboration in Web Applications: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Traditional databases require page reloads or polling to show updates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databases eliminate lag by pushing updates instantly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Convex?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Seamless real-time integration with web apps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Enables instant visibility of edits across users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Built-in support for concurrent operations without performance issues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752816" y="3154680"/>
            <a:ext cx="6382167" cy="522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</a:t>
            </a: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 Insights: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updates improve user engagement and productivity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Essential for collaborative tools like document editors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This Project: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Convex ensures that all users work on the latest version of documents, improving teamwork and efficiency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74841" y="1125802"/>
            <a:ext cx="12538319" cy="195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6"/>
              </a:lnSpc>
            </a:pPr>
            <a:r>
              <a:rPr lang="en-US" sz="59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Literature Review – Authentication &amp; Access Control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31286" y="3152115"/>
            <a:ext cx="6147380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Role of Authentication in Web Systems: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Prevents unauthorized access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Maintains data integrity and user trust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Clerk?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Modern authentication system designed for developers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Provides sign-up, login, session tracking, and role management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Easy to integrate with Next.js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976410" y="3152115"/>
            <a:ext cx="6176554" cy="570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</a:t>
            </a: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ature Findings: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Simple yet secure authentication leads to better user adoption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Systems like Clerk are favored for their balance of usability and security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Relevance to the System: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Clerk handles all user management, ensuring only authorized users can access or modify documents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49858" y="1400245"/>
            <a:ext cx="12788284" cy="137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61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Literature Review – Modular Design &amp; Scalability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3497" y="3018613"/>
            <a:ext cx="12440297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Design Principles: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Break systems into independent, reusable modules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Enhances code clarity, testing, and future development</a:t>
            </a: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 Highlighted in Research: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Simplifies maintenance and debugging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Encourages parallel development of different system parts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Enables fast integration of new features</a:t>
            </a: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to This Project: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UI, server logic, database, and authentication are built as separate modules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The system is ready for scaling up or adding new features (like AI) without rewriting the entire codebase</a:t>
            </a:r>
          </a:p>
          <a:p>
            <a:pPr algn="just">
              <a:lnSpc>
                <a:spcPts val="3920"/>
              </a:lnSpc>
            </a:pPr>
          </a:p>
          <a:p>
            <a:pPr algn="just">
              <a:lnSpc>
                <a:spcPts val="392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99523" y="1248416"/>
            <a:ext cx="12888954" cy="163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sz="72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Literature Review – Future Scope with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5975" y="3328670"/>
            <a:ext cx="6979525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AI’s Emerging Role in Document Systems: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Enhances productivity and personalization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Features with AI: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Smart suggestions for content editing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Automatic document categorization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Voice-to-text conversion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Predictive document organization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362740" y="3328670"/>
            <a:ext cx="7896560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Trends: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AI-driven systems are more interactive and efficient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Adaptive UIs boost user satisfaction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Preparedness of the System: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Modular architecture allows easy integration of AI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Future-ready for deploying intelligent modules without affecting core features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191486"/>
            <a:ext cx="8447605" cy="17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4"/>
              </a:lnSpc>
            </a:pPr>
            <a:r>
              <a:rPr lang="en-US" sz="76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Project 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3293" y="2999346"/>
            <a:ext cx="7729133" cy="502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6"/>
              </a:lnSpc>
            </a:pPr>
            <a:r>
              <a:rPr lang="en-US" sz="2847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Unified Platform</a:t>
            </a:r>
          </a:p>
          <a:p>
            <a:pPr algn="just" marL="614737" indent="-307368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Use Next.js to handle both client and server in a single framework</a:t>
            </a:r>
          </a:p>
          <a:p>
            <a:pPr algn="just" marL="614737" indent="-307368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Reduce complexity and increase performance</a:t>
            </a:r>
          </a:p>
          <a:p>
            <a:pPr algn="just">
              <a:lnSpc>
                <a:spcPts val="3986"/>
              </a:lnSpc>
            </a:pPr>
            <a:r>
              <a:rPr lang="en-US" sz="2847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Updates</a:t>
            </a:r>
          </a:p>
          <a:p>
            <a:pPr algn="just" marL="614737" indent="-307368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Use Convex for live document changes</a:t>
            </a:r>
          </a:p>
          <a:p>
            <a:pPr algn="just" marL="614737" indent="-307368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 smooth multi-user collaboration</a:t>
            </a:r>
          </a:p>
          <a:p>
            <a:pPr algn="just">
              <a:lnSpc>
                <a:spcPts val="3986"/>
              </a:lnSpc>
            </a:pPr>
          </a:p>
          <a:p>
            <a:pPr algn="just">
              <a:lnSpc>
                <a:spcPts val="398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980617" y="2999346"/>
            <a:ext cx="7188227" cy="451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3"/>
              </a:lnSpc>
            </a:pPr>
            <a:r>
              <a:rPr lang="en-US" sz="2852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</a:t>
            </a:r>
            <a:r>
              <a:rPr lang="en-US" b="true" sz="2852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Authentication</a:t>
            </a:r>
          </a:p>
          <a:p>
            <a:pPr algn="just" marL="615891" indent="-307946" lvl="1">
              <a:lnSpc>
                <a:spcPts val="3993"/>
              </a:lnSpc>
              <a:buFont typeface="Arial"/>
              <a:buChar char="•"/>
            </a:pPr>
            <a:r>
              <a:rPr lang="en-US" sz="285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Integrate Clerk for protected user access</a:t>
            </a:r>
          </a:p>
          <a:p>
            <a:pPr algn="just" marL="615891" indent="-307946" lvl="1">
              <a:lnSpc>
                <a:spcPts val="3993"/>
              </a:lnSpc>
              <a:buFont typeface="Arial"/>
              <a:buChar char="•"/>
            </a:pPr>
            <a:r>
              <a:rPr lang="en-US" sz="285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Maintain data integrity and trustworthiness</a:t>
            </a:r>
          </a:p>
          <a:p>
            <a:pPr algn="just">
              <a:lnSpc>
                <a:spcPts val="3993"/>
              </a:lnSpc>
            </a:pPr>
            <a:r>
              <a:rPr lang="en-US" b="true" sz="2852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and Scalable Architecture</a:t>
            </a:r>
          </a:p>
          <a:p>
            <a:pPr algn="just" marL="615891" indent="-307946" lvl="1">
              <a:lnSpc>
                <a:spcPts val="3993"/>
              </a:lnSpc>
              <a:buFont typeface="Arial"/>
              <a:buChar char="•"/>
            </a:pPr>
            <a:r>
              <a:rPr lang="en-US" sz="285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Design independent system modules</a:t>
            </a:r>
          </a:p>
          <a:p>
            <a:pPr algn="just" marL="615891" indent="-307946" lvl="1">
              <a:lnSpc>
                <a:spcPts val="3993"/>
              </a:lnSpc>
              <a:buFont typeface="Arial"/>
              <a:buChar char="•"/>
            </a:pPr>
            <a:r>
              <a:rPr lang="en-US" sz="2852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Make it easy to maintain and expand</a:t>
            </a:r>
          </a:p>
          <a:p>
            <a:pPr algn="just">
              <a:lnSpc>
                <a:spcPts val="399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961743" y="7445956"/>
            <a:ext cx="11163805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Efficient Data Flow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fee</a:t>
            </a: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dback loop for seamless editing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Fast and synchronized interaction between UI, server, and database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20198" y="1191486"/>
            <a:ext cx="8447605" cy="17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4"/>
              </a:lnSpc>
            </a:pPr>
            <a:r>
              <a:rPr lang="en-US" sz="76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Project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3214" y="3276621"/>
            <a:ext cx="8040432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User-Friendly Interface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Clean, minimal UI design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Fully responsive for desktop, tablet, and mobile devices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Easy navigation for users of all technical backgrounds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Future-Ready Architecture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Designed to support upcoming features like AI modules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Ensures smooth integration without disrupting the core system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393908" y="3276621"/>
            <a:ext cx="6865392" cy="522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ducational Value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Demonstrates best practices in modern full-stack development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Useful as a reference for students learning Next.js + Convex + Clerk</a:t>
            </a:r>
          </a:p>
          <a:p>
            <a:pPr algn="just">
              <a:lnSpc>
                <a:spcPts val="3780"/>
              </a:lnSpc>
            </a:pP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 Collaborative Work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Multiple users can edit/view documents simultaneously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Promotes teamwork and real-time knowledge sharing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47085" y="1402558"/>
            <a:ext cx="11193829" cy="102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8"/>
              </a:lnSpc>
            </a:pPr>
            <a:r>
              <a:rPr lang="en-US" sz="87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Hypothesis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17971" y="2991316"/>
            <a:ext cx="14052058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 unified, real-time, and secure document management system—developed using Next.js, Convex, and Clerk—will provide a robust, scalable, and user-friendly solution for document collaboration.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Beliefs Behind the System Design: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 single integrated platform improves </a:t>
            </a:r>
            <a:r>
              <a:rPr lang="en-US" b="true" sz="30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and maintainability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Modular design ensures </a:t>
            </a:r>
            <a:r>
              <a:rPr lang="en-US" b="true" sz="30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long-term scalability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updates improve </a:t>
            </a:r>
            <a:r>
              <a:rPr lang="en-US" b="true" sz="30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experience and productivity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Secure authentication maintains </a:t>
            </a:r>
            <a:r>
              <a:rPr lang="en-US" b="true" sz="30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privacy and trust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Future AI integration will make the </a:t>
            </a:r>
            <a:r>
              <a:rPr lang="en-US" b="true" sz="30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smarter and more efficient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382685"/>
            <a:ext cx="8447605" cy="95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0"/>
              </a:lnSpc>
            </a:pPr>
            <a:r>
              <a:rPr lang="en-US" sz="80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Methodology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9287" y="2485146"/>
            <a:ext cx="13517069" cy="71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Requirement Analysis &amp; Planning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Define system goals and necessary tech stack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Focus on performance, real-time collaboration, and security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Design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Modular structure: UI, server logic, database, authentication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Clear separation of concerns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Phases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UI development with responsive layout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Backend development using Next.js API routes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Convex integration for real-time sync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Clerk integration for authentication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&amp; Evaluation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Verify real-time updates, user access control, and cross-device compatibility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 modularity and code clarity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41374" y="2568298"/>
            <a:ext cx="9591146" cy="71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Interface (UI)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Clean design with core features: create, edit, share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Responsive for all device types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Server-Side Logic (Next.js API)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Handles business logic and routes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Processes requests and responses efficiently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(Convex)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data synchronization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Instant document updates across sessions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Authentication (Clerk)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Handles user login, registration, and session management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Protects access and data integrity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602624" y="2904313"/>
            <a:ext cx="7146101" cy="5779409"/>
          </a:xfrm>
          <a:custGeom>
            <a:avLst/>
            <a:gdLst/>
            <a:ahLst/>
            <a:cxnLst/>
            <a:rect r="r" b="b" t="t" l="l"/>
            <a:pathLst>
              <a:path h="5779409" w="7146101">
                <a:moveTo>
                  <a:pt x="0" y="0"/>
                </a:moveTo>
                <a:lnTo>
                  <a:pt x="7146101" y="0"/>
                </a:lnTo>
                <a:lnTo>
                  <a:pt x="7146101" y="5779409"/>
                </a:lnTo>
                <a:lnTo>
                  <a:pt x="0" y="577940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547085" y="1295400"/>
            <a:ext cx="11193829" cy="8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6"/>
              </a:lnSpc>
            </a:pPr>
            <a:r>
              <a:rPr lang="en-US" sz="74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System Architecture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89065" y="4473298"/>
            <a:ext cx="5248460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Benefits: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Clear mo</a:t>
            </a: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dular boundaries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Seamless interaction between components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Easy future integration of new modules (e.g., AI)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05180" y="2847163"/>
            <a:ext cx="9042392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Step-by-Step Data Flow :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Action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 user creates or edits a document via the interface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Request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Next.js API receives the input and processes the update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Update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Convex stores and syncs the updated data in real time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Feedback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UI immediately reflects the change across all users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542964" y="3418663"/>
            <a:ext cx="6138374" cy="4964410"/>
          </a:xfrm>
          <a:custGeom>
            <a:avLst/>
            <a:gdLst/>
            <a:ahLst/>
            <a:cxnLst/>
            <a:rect r="r" b="b" t="t" l="l"/>
            <a:pathLst>
              <a:path h="4964410" w="6138374">
                <a:moveTo>
                  <a:pt x="0" y="0"/>
                </a:moveTo>
                <a:lnTo>
                  <a:pt x="6138374" y="0"/>
                </a:lnTo>
                <a:lnTo>
                  <a:pt x="6138374" y="4964410"/>
                </a:lnTo>
                <a:lnTo>
                  <a:pt x="0" y="496441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05180" y="1676811"/>
            <a:ext cx="13677640" cy="8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6"/>
              </a:lnSpc>
            </a:pPr>
            <a:r>
              <a:rPr lang="en-US" sz="74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Data Flow in the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1186" y="4327447"/>
            <a:ext cx="4215567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Live</a:t>
            </a:r>
            <a:r>
              <a:rPr lang="en-US" sz="26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collaboration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Smooth user experience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Accurate and up-to-date information display at all times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98023" y="4226593"/>
            <a:ext cx="9691953" cy="129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3"/>
              </a:lnSpc>
            </a:pPr>
            <a:r>
              <a:rPr lang="en-US" sz="11063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Module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14794" y="1447508"/>
            <a:ext cx="13658412" cy="84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71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Module – User Interface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9287" y="2485146"/>
            <a:ext cx="13517069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Create a clean, intuitive, and responsive front end for document management.</a:t>
            </a: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Minimalistic design focused on core functions: Create, Edit, Share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Built using Next.js + Tailwind CSS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Responsive layout for desktop, tablet, and mobile devices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UI updates using Convex sync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Simple UX suitable for users of all skill levels</a:t>
            </a:r>
          </a:p>
          <a:p>
            <a:pPr algn="just">
              <a:lnSpc>
                <a:spcPts val="3920"/>
              </a:lnSpc>
            </a:pPr>
            <a:r>
              <a:rPr lang="en-US" sz="28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Benefits: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Easy to use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Consistent user experience across devices</a:t>
            </a:r>
          </a:p>
          <a:p>
            <a:pPr algn="just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Supports collaborative productivity</a:t>
            </a:r>
          </a:p>
          <a:p>
            <a:pPr algn="just">
              <a:lnSpc>
                <a:spcPts val="392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093531" y="1314166"/>
            <a:ext cx="12100938" cy="159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70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Module – Server-Side Logic (Next.js API)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44420" y="3028138"/>
            <a:ext cx="9199160" cy="665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 of Server-Side Logic: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Handles communication between UI and database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Manages business logic and request validation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with: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Next.js API routes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Efficient routing and processing for operations like:</a:t>
            </a:r>
          </a:p>
          <a:p>
            <a:pPr algn="just" marL="1165866" indent="-388622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Create/Edit/Delete document</a:t>
            </a:r>
          </a:p>
          <a:p>
            <a:pPr algn="just" marL="1165866" indent="-388622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Fetch documents per user</a:t>
            </a:r>
          </a:p>
          <a:p>
            <a:pPr algn="just" marL="1165866" indent="-388622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Handle errors and validation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Advantages: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Faster load times using server-side rendering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Single codebase simplifies maintenance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Scalable with growing data and user base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08750" y="1321832"/>
            <a:ext cx="13670501" cy="159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70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Module – Database (Convex)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42568" y="3078480"/>
            <a:ext cx="11602864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Store and sync documents in real time.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Convex?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Purpose-built for real-time applications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Pushes updates instantly to all connected users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No need for manual refresh or polling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 Handling: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Supports concurrent edits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Ensures that all users see the latest document state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Scalable and low-latency data operations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Outcome: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Enables smooth, conflict-free live collaboration among multiple users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85882" y="1331357"/>
            <a:ext cx="12716237" cy="160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71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Module – Authentication (Clerk)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08128" y="3078480"/>
            <a:ext cx="12671034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Functionality: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Handles secure user registration, login, logout, and session management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Manages access control to restrict document access to authenticated users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of Clerk: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OAuth and email/password authentication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Session tracking and token-based validation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Easy integration with Next.js routes</a:t>
            </a:r>
          </a:p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Clerk?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Secure yet simple for users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Protects sensitive document data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Enhances system trust and integrity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31777" y="1350407"/>
            <a:ext cx="9024447" cy="86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6"/>
              </a:lnSpc>
            </a:pPr>
            <a:r>
              <a:rPr lang="en-US" sz="74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Implementation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3861" y="2399120"/>
            <a:ext cx="8217801" cy="713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1.Setup and Configuration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Project initialized with Next.js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Installed Convex and Clerk libraries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Configured environment and routing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2.F</a:t>
            </a: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rontend Development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Created user interface with a focus on UX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Integrated real-time updates and live feedback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3.</a:t>
            </a: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&amp; API Integration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Developed APIs to handle all CRUD operations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Ensured efficient data validation and response handling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767822" y="2847163"/>
            <a:ext cx="7506362" cy="522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4.Real-Time Sync with Convex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Connecte</a:t>
            </a: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 frontend actions with Convex database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Ensured consistent, real-time visibility for all users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</a:t>
            </a: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Authentication Setup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Implemented Clerk for secure user management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Defined protected routes and session rules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469174"/>
            <a:ext cx="8447605" cy="9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9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Result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44257" y="3018613"/>
            <a:ext cx="11799485" cy="463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6212" indent="-358106" lvl="1">
              <a:lnSpc>
                <a:spcPts val="4644"/>
              </a:lnSpc>
              <a:buFont typeface="Arial"/>
              <a:buChar char="•"/>
            </a:pPr>
            <a:r>
              <a:rPr lang="en-US" sz="33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Successfully implemented a unified document management system</a:t>
            </a:r>
          </a:p>
          <a:p>
            <a:pPr algn="just" marL="716212" indent="-358106" lvl="1">
              <a:lnSpc>
                <a:spcPts val="4644"/>
              </a:lnSpc>
              <a:buFont typeface="Arial"/>
              <a:buChar char="•"/>
            </a:pPr>
            <a:r>
              <a:rPr lang="en-US" sz="33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updates work seamlessly across all users</a:t>
            </a:r>
          </a:p>
          <a:p>
            <a:pPr algn="just" marL="716212" indent="-358106" lvl="1">
              <a:lnSpc>
                <a:spcPts val="4644"/>
              </a:lnSpc>
              <a:buFont typeface="Arial"/>
              <a:buChar char="•"/>
            </a:pPr>
            <a:r>
              <a:rPr lang="en-US" sz="33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Authentication is secure and stable using Clerk</a:t>
            </a:r>
          </a:p>
          <a:p>
            <a:pPr algn="just" marL="716212" indent="-358106" lvl="1">
              <a:lnSpc>
                <a:spcPts val="4644"/>
              </a:lnSpc>
              <a:buFont typeface="Arial"/>
              <a:buChar char="•"/>
            </a:pPr>
            <a:r>
              <a:rPr lang="en-US" sz="33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Clean and responsive UI tested on various screen sizes</a:t>
            </a:r>
          </a:p>
          <a:p>
            <a:pPr algn="just" marL="716212" indent="-358106" lvl="1">
              <a:lnSpc>
                <a:spcPts val="4644"/>
              </a:lnSpc>
              <a:buFont typeface="Arial"/>
              <a:buChar char="•"/>
            </a:pPr>
            <a:r>
              <a:rPr lang="en-US" sz="33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Achieved modularity: each component functions independently and efficiently</a:t>
            </a:r>
          </a:p>
          <a:p>
            <a:pPr algn="just">
              <a:lnSpc>
                <a:spcPts val="4644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47085" y="1359932"/>
            <a:ext cx="11193829" cy="97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</a:pPr>
            <a:r>
              <a:rPr lang="en-US" sz="82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29018" y="2606723"/>
            <a:ext cx="13029964" cy="629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3292" indent="-296646" lvl="1">
              <a:lnSpc>
                <a:spcPts val="3847"/>
              </a:lnSpc>
              <a:buFont typeface="Arial"/>
              <a:buChar char="•"/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Developed a robust, scalable, and secure document management platform</a:t>
            </a:r>
          </a:p>
          <a:p>
            <a:pPr algn="just" marL="593292" indent="-296646" lvl="1">
              <a:lnSpc>
                <a:spcPts val="3847"/>
              </a:lnSpc>
              <a:buFont typeface="Arial"/>
              <a:buChar char="•"/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Utilized Next.js, Convex, and Clerk to build a unified, full-stack application</a:t>
            </a:r>
          </a:p>
          <a:p>
            <a:pPr algn="just" marL="593292" indent="-296646" lvl="1">
              <a:lnSpc>
                <a:spcPts val="3847"/>
              </a:lnSpc>
              <a:buFont typeface="Arial"/>
              <a:buChar char="•"/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Focused on modular design, real-time updates, and user-friendly experience</a:t>
            </a:r>
          </a:p>
          <a:p>
            <a:pPr algn="just" marL="593292" indent="-296646" lvl="1">
              <a:lnSpc>
                <a:spcPts val="3847"/>
              </a:lnSpc>
              <a:buFont typeface="Arial"/>
              <a:buChar char="•"/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collaboration enhances productivity</a:t>
            </a:r>
          </a:p>
          <a:p>
            <a:pPr algn="just" marL="593292" indent="-296646" lvl="1">
              <a:lnSpc>
                <a:spcPts val="3847"/>
              </a:lnSpc>
              <a:buFont typeface="Arial"/>
              <a:buChar char="•"/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Secure authentication builds trust among users</a:t>
            </a:r>
          </a:p>
          <a:p>
            <a:pPr algn="just" marL="593292" indent="-296646" lvl="1">
              <a:lnSpc>
                <a:spcPts val="3847"/>
              </a:lnSpc>
              <a:buFont typeface="Arial"/>
              <a:buChar char="•"/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Clean architecture simplifies maintenance and future upgrades</a:t>
            </a:r>
          </a:p>
          <a:p>
            <a:pPr algn="just">
              <a:lnSpc>
                <a:spcPts val="3847"/>
              </a:lnSpc>
            </a:pPr>
          </a:p>
          <a:p>
            <a:pPr algn="just">
              <a:lnSpc>
                <a:spcPts val="3847"/>
              </a:lnSpc>
            </a:pPr>
            <a:r>
              <a:rPr lang="en-US" sz="274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The system serves as a strong example of how modern technologies can be combined to deliver a powerful, collaborative, and future-ready web application.</a:t>
            </a:r>
          </a:p>
          <a:p>
            <a:pPr algn="just">
              <a:lnSpc>
                <a:spcPts val="3847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47085" y="1483770"/>
            <a:ext cx="11193829" cy="97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8"/>
              </a:lnSpc>
            </a:pPr>
            <a:r>
              <a:rPr lang="en-US" sz="82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Future Scope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5975" y="3081147"/>
            <a:ext cx="6864044" cy="570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Integration: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Smart suggestions for text formatting and content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Voice-to-text document input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Auto-organizing folders based on content types</a:t>
            </a:r>
          </a:p>
          <a:p>
            <a:pPr algn="just">
              <a:lnSpc>
                <a:spcPts val="3779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Document Editor: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More formatting tools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Media (images, videos) embedding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Version control and document history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393908" y="3081147"/>
            <a:ext cx="6280911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Collaboration Features: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Role-base</a:t>
            </a: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 permissions (admin, editor, viewer)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Real-time comments and annotations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Notifications and activity tracking</a:t>
            </a:r>
          </a:p>
          <a:p>
            <a:pPr algn="just">
              <a:lnSpc>
                <a:spcPts val="3780"/>
              </a:lnSpc>
            </a:pPr>
            <a:r>
              <a:rPr lang="en-US" b="true" sz="2700">
                <a:solidFill>
                  <a:srgbClr val="5A38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Analytics &amp; Reporting: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Document usage insights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User activity logs for auditing</a:t>
            </a:r>
          </a:p>
          <a:p>
            <a:pPr algn="just">
              <a:lnSpc>
                <a:spcPts val="37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20198" y="1469174"/>
            <a:ext cx="8447605" cy="9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971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References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59699" y="3141065"/>
            <a:ext cx="11367893" cy="443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8265" indent="-304132" lvl="1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Next.js Documentation</a:t>
            </a:r>
          </a:p>
          <a:p>
            <a:pPr algn="just">
              <a:lnSpc>
                <a:spcPts val="3944"/>
              </a:lnSpc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817" u="sng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  <a:hlinkClick r:id="rId18" tooltip="https://nextjs.org/docs"/>
              </a:rPr>
              <a:t>https://nextjs.org/docs</a:t>
            </a:r>
          </a:p>
          <a:p>
            <a:pPr algn="just" marL="608265" indent="-304132" lvl="1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Convex Documentation</a:t>
            </a:r>
          </a:p>
          <a:p>
            <a:pPr algn="just">
              <a:lnSpc>
                <a:spcPts val="3944"/>
              </a:lnSpc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817" u="sng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  <a:hlinkClick r:id="rId19" tooltip="https://docs.convex.dev"/>
              </a:rPr>
              <a:t>https://docs.convex.dev</a:t>
            </a:r>
          </a:p>
          <a:p>
            <a:pPr algn="just" marL="608265" indent="-304132" lvl="1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Clerk Documentation</a:t>
            </a:r>
          </a:p>
          <a:p>
            <a:pPr algn="just">
              <a:lnSpc>
                <a:spcPts val="3944"/>
              </a:lnSpc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817" u="sng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  <a:hlinkClick r:id="rId20" tooltip="https://clerk.dev/docs"/>
              </a:rPr>
              <a:t>https://clerk.dev/docs</a:t>
            </a:r>
          </a:p>
          <a:p>
            <a:pPr algn="just" marL="608265" indent="-304132" lvl="1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5A3831"/>
                </a:solidFill>
                <a:latin typeface="Canva Sans"/>
                <a:ea typeface="Canva Sans"/>
                <a:cs typeface="Canva Sans"/>
                <a:sym typeface="Canva Sans"/>
              </a:rPr>
              <a:t>Additional readings on system design, modular architecture, and real-time applications (academic and technical sources</a:t>
            </a:r>
          </a:p>
          <a:p>
            <a:pPr algn="just">
              <a:lnSpc>
                <a:spcPts val="3944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41983" y="3825246"/>
            <a:ext cx="8804035" cy="311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89"/>
              </a:lnSpc>
            </a:pPr>
            <a:r>
              <a:rPr lang="en-US" sz="13916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Thank</a:t>
            </a:r>
          </a:p>
          <a:p>
            <a:pPr algn="ctr">
              <a:lnSpc>
                <a:spcPts val="11689"/>
              </a:lnSpc>
            </a:pPr>
            <a:r>
              <a:rPr lang="en-US" sz="13916" b="true">
                <a:solidFill>
                  <a:srgbClr val="5A3831"/>
                </a:solidFill>
                <a:latin typeface="Manison SemiExpanded Bold"/>
                <a:ea typeface="Manison SemiExpanded Bold"/>
                <a:cs typeface="Manison SemiExpanded Bold"/>
                <a:sym typeface="Manison SemiExpanded Bold"/>
              </a:rPr>
              <a:t>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DAGo8ky4ang</dc:identifier>
  <dcterms:modified xsi:type="dcterms:W3CDTF">2011-08-01T06:04:30Z</dcterms:modified>
  <cp:revision>1</cp:revision>
  <dc:title>One Notebook: Document Management System</dc:title>
</cp:coreProperties>
</file>